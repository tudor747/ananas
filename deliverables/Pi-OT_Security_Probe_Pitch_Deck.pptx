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Pi-OT Security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9509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FE8F3"/>
                </a:solidFill>
                <a:latin typeface="Aptos"/>
              </a:rPr>
              <a:t>A local, evidence-first network inventory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92608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Programming architecture, safe discovery, evidence persistence, and development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4160520"/>
            <a:ext cx="3154680" cy="1234440"/>
          </a:xfrm>
          <a:prstGeom prst="roundRect">
            <a:avLst/>
          </a:prstGeom>
          <a:solidFill>
            <a:srgbClr val="173E5A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4160520"/>
            <a:ext cx="73152" cy="1234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9328" y="4315968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What is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8" y="4690872"/>
            <a:ext cx="283464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Local website • bounded discovery • service checks • web/TLS metadata • Wi-Fi inventory • baselines • exports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09360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FE8F3"/>
                </a:solidFill>
                <a:latin typeface="Aptos"/>
              </a:rPr>
              <a:t>Technical pitch deck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The problem: useful network evidence without overreach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Operators need real observations, while developers need code they can safely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661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343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7276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What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47672"/>
            <a:ext cx="3246120" cy="3721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Network inventories become unreliable when they overwrite history, mix current and stale service data, accept arbitrary targets, or turn weak signals into confident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661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434340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7276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Product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47672"/>
            <a:ext cx="3246120" cy="3721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Collect only bounded evidence. Keep an immutable per-scan snapshot. Show missing evidence honestly. Separate scanning, persistence, routes, and 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661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43434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72768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246120" cy="3721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 local operator can see current devices, selected TCP evidence, raw web metadata, Wi-Fi observations, historical changes, and exports without risk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What the current software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Runs on a normal Windows, Linux, or Kali machine; Raspberry Pi hardware is not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52044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664208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320040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Find responsive hosts on one attached private /24-or-smaller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417320"/>
            <a:ext cx="352044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417320"/>
            <a:ext cx="73152" cy="16642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7276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947672"/>
            <a:ext cx="320040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Check 20 common TCP ports on one operator-selected discovered device.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417320"/>
            <a:ext cx="352044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0183" y="1417320"/>
            <a:ext cx="73152" cy="16642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57276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Inspect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1947672"/>
            <a:ext cx="320040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Record a one-request HTTP/HTTPS observation for an observed web 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39"/>
            <a:ext cx="352044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20439"/>
            <a:ext cx="73152" cy="1664208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675887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050791"/>
            <a:ext cx="320040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Create a baseline, review new/removed/IP/MAC/port/Wi-Fi changes, and add notes.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3520439"/>
            <a:ext cx="352044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992" y="3520439"/>
            <a:ext cx="73152" cy="166420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675887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050791"/>
            <a:ext cx="320040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Download raw JSON and CSV evidence; retain scan and audit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Architecture: responsibilities are separated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Each folder owns one kind of decision, reducing the cost of a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28016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280160"/>
            <a:ext cx="73152" cy="658368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435607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web/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10512"/>
            <a:ext cx="973836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Routes, schemas, browser assets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19456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194560"/>
            <a:ext cx="73152" cy="65836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350008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application/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724912"/>
            <a:ext cx="973836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Workflows, baselines, dashboard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10896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108960"/>
            <a:ext cx="73152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3264408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collectors/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39312"/>
            <a:ext cx="973836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Interfaces, target policy, Nmap, Wi-Fi, HTTP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02336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023360"/>
            <a:ext cx="73152" cy="658368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4178808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scanners/ + database/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553712"/>
            <a:ext cx="973836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Lifecycle, cancellation, audit, SQLite snapshots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937760"/>
            <a:ext cx="100584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937760"/>
            <a:ext cx="73152" cy="65836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7008" y="5093208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domain/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468112"/>
            <a:ext cx="973836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Shared typed observations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03504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Deferred hardware and OT work lives in hardware/ and experimental/, outside the live website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Discovery flow: from a button click to historical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The same request path is covered by unit, integration, and live loopback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148840"/>
            <a:ext cx="73152" cy="118872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0428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79192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app.js + api.js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84832" y="2523744"/>
            <a:ext cx="201168" cy="274320"/>
          </a:xfrm>
          <a:prstGeom prst="rightArrow">
            <a:avLst/>
          </a:prstGeom>
          <a:solidFill>
            <a:srgbClr val="5E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21488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2148840"/>
            <a:ext cx="73152" cy="1188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230428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679192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schema + HTTP response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05072" y="2523744"/>
            <a:ext cx="201168" cy="274320"/>
          </a:xfrm>
          <a:prstGeom prst="rightArrow">
            <a:avLst/>
          </a:prstGeom>
          <a:solidFill>
            <a:srgbClr val="5E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60" y="21488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148840"/>
            <a:ext cx="73152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230428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679192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authorize + lock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25312" y="2523744"/>
            <a:ext cx="201168" cy="274320"/>
          </a:xfrm>
          <a:prstGeom prst="rightArrow">
            <a:avLst/>
          </a:prstGeom>
          <a:solidFill>
            <a:srgbClr val="5E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21488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148840"/>
            <a:ext cx="73152" cy="118872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30428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Collector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679192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validate + Nmap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45552" y="2523744"/>
            <a:ext cx="201168" cy="274320"/>
          </a:xfrm>
          <a:prstGeom prst="rightArrow">
            <a:avLst/>
          </a:prstGeom>
          <a:solidFill>
            <a:srgbClr val="5E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21488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148840"/>
            <a:ext cx="73152" cy="1188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230428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679192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progress + audit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65792" y="2523744"/>
            <a:ext cx="201168" cy="274320"/>
          </a:xfrm>
          <a:prstGeom prst="rightArrow">
            <a:avLst/>
          </a:prstGeom>
          <a:solidFill>
            <a:srgbClr val="5E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12680" y="2148840"/>
            <a:ext cx="1645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12680" y="2148840"/>
            <a:ext cx="73152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3848" y="230428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SQLite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2679192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snapshot +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16052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8324A"/>
                </a:solidFill>
                <a:latin typeface="Aptos"/>
              </a:defRPr>
            </a:pPr>
            <a:r>
              <a:t>Routes do not run shell commands; they validate input and call the application service.</a:t>
            </a:r>
          </a:p>
          <a:p>
            <a:pPr>
              <a:spcAft>
                <a:spcPts val="1000"/>
              </a:spcAft>
              <a:defRPr sz="1500">
                <a:solidFill>
                  <a:srgbClr val="18324A"/>
                </a:solidFill>
                <a:latin typeface="Aptos"/>
              </a:defRPr>
            </a:pPr>
            <a:r>
              <a:t>The service serializes operations and owns cancellation/progress state.</a:t>
            </a:r>
          </a:p>
          <a:p>
            <a:pPr>
              <a:spcAft>
                <a:spcPts val="1000"/>
              </a:spcAft>
              <a:defRPr sz="1500">
                <a:solidFill>
                  <a:srgbClr val="18324A"/>
                </a:solidFill>
                <a:latin typeface="Aptos"/>
              </a:defRPr>
            </a:pPr>
            <a:r>
              <a:t>The orchestrator stores an immutable scan snapshot before the browser reloads current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Network discovery is bounded before Nmap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Discovery first reads the local machine, then permits only a narrow set of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52760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630936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Active local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56231"/>
            <a:ext cx="10332720" cy="9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psutil first; Windows PowerShell or Linux iproute2 as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10652760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73152" cy="630936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35000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RFC1918 IPv4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24912"/>
            <a:ext cx="10332720" cy="9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Public, loopback, and unrelated target ranges are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39"/>
            <a:ext cx="10652760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63239"/>
            <a:ext cx="73152" cy="63093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218687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≤ 256 addresses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93591"/>
            <a:ext cx="10332720" cy="9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 /24 or smaller subnet prevents accidental broad discovery.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652760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31920"/>
            <a:ext cx="73152" cy="630936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0873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Attached subnet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462272"/>
            <a:ext cx="10332720" cy="9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Selected target must be contained by an active interface.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00600"/>
            <a:ext cx="10652760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00600"/>
            <a:ext cx="73152" cy="630936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95604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Authorization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330952"/>
            <a:ext cx="10332720" cy="9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 server-side confirmation is required before the scan process starts.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Collectors have narrow, reviewable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Observations are retained as facts; the program does not claim vulnerabilities or device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572768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Host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84632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Nmap -sn; rate/retry/host-time limits; parses hosts marked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15727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72768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Service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47672"/>
            <a:ext cx="484632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One current asset; TCP connect scan of top 20 ports; capped at 5 connections/sec.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74720"/>
            <a:ext cx="73152" cy="157276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630168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HTTP/HTTPS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05072"/>
            <a:ext cx="484632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One HEAD / request; no redirect following; redacts Set-Cookie; captures raw headers and TLS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74720"/>
            <a:ext cx="51663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73152" cy="1572768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630168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Wi-Fi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005072"/>
            <a:ext cx="484632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Normal OS-managed inventory through nmcli or netsh; no monitor mode or packet capture.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Excluded: exploit code, credential tests, NSE scripts, OS detection, broad scans, deauthentication, and live OT protocol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Evidence stays meaningful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The current device row is convenient; the per-scan snapshot is the historical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47472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7276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Live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3063240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Collector yields Asset and ScanProgress records. Each observation includes only fields actually returned by the tool or 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34747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7276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63240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Repository upserts current rows and writes scan_assets.snapshot_json. Scan status and audit records are finalized for completed, cancelled, or failed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3474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7276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063240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Latest completed discovery supplies current inventory. Later completed verification may overlay ports/services. Cancelled discovery cannot create false removals.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Formula-safe CSV and raw JSON exports preserve observations without translating them into grades.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Baselines turn observations into an analyst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The comparison logic is conservative around changing IP addresses and missing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73152" cy="164592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6712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1.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16916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Store named asset and Wi-Fi snapshots after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011680"/>
            <a:ext cx="73152" cy="16459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16712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2. 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542032"/>
            <a:ext cx="16916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Run a later completed collection on the approved local target.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2011680"/>
            <a:ext cx="73152" cy="1645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7" y="216712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3.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2542032"/>
            <a:ext cx="16916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Reserve unique normalized MAC matches before IP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2011680"/>
            <a:ext cx="73152" cy="164592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216712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4.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542032"/>
            <a:ext cx="16916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Record new/removed devices, MAC/IP changes, new ports, Wi-Fi differences.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0116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2011680"/>
            <a:ext cx="73152" cy="16459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93808" y="2167128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5. Triage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2542032"/>
            <a:ext cx="16916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Keep analyst status, acknowledgement, and note alongside the observed difference.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17720"/>
            <a:ext cx="10561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E7184"/>
                </a:solidFill>
                <a:latin typeface="Aptos"/>
              </a:rPr>
              <a:t>Missing MAC data is not treated as a MAC change. Hostname alone is not identity. Persistent multi-factor identity reconciliation is explicitly a future enhancement.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Safety model and level 3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The available features stop before industrial protocol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744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777240"/>
          </a:xfrm>
          <a:prstGeom prst="rect">
            <a:avLst/>
          </a:prstGeom>
          <a:solidFill>
            <a:srgbClr val="5E7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38988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Level 0 — Passive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10424160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Contract only; packet capture is not implemented.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04288"/>
            <a:ext cx="10744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304288"/>
            <a:ext cx="73152" cy="77724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459736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Level 1 —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834640"/>
            <a:ext cx="10424160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Available: bounded host discovery on one authorized attached private subnet.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74136"/>
            <a:ext cx="10744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74136"/>
            <a:ext cx="73152" cy="7772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29584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Level 2 —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04487"/>
            <a:ext cx="10424160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Available: one-host TCP check, web metadata, and managed Wi-Fi inventory.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43983"/>
            <a:ext cx="10744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443983"/>
            <a:ext cx="73152" cy="777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599431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Level 3 — Active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974336"/>
            <a:ext cx="10424160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Disabled: planned protocol-specific read-only identity requests for one lab-approved device.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E7184"/>
                </a:solidFill>
                <a:latin typeface="Aptos"/>
              </a:rPr>
              <a:t>Level 3 remains disabled because a read-only request still transmits traffic and needs lab-simulator coverage, explicit authorization, rate limits, cancellation, evidence logging, and protocol-specific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Validation and development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The project is ready for software-focused iteration on an ordinary local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3383280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27048"/>
            <a:ext cx="31546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Automated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3154679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39 tests cover safety gates, scan persistence, snapshots, baselines, reports, Nmap parsing, Wi-Fi parsing, and browser-route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73152" cy="33832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27048"/>
            <a:ext cx="31546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Live local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154679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The diagnostics command reads actual interfaces, starts a temporary loopback HTTP server, captures its HTTP response, and checks its open TCP port with Nmap.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73152" cy="3383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27048"/>
            <a:ext cx="31546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Change-friendly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01952"/>
            <a:ext cx="3154679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The development guide maps each kind of edit to a file. Routes, application behavior, collectors, persistence, and views are independently testable.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287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2A43"/>
                </a:solidFill>
                <a:latin typeface="Aptos"/>
              </a:rPr>
              <a:t>Run: .\run.ps1  |  Test: .\.venv\Scripts\python.exe -m pytest -q  |  Local evidence: python -m pi_ot_probe.diagnostics.local_check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Next programming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Build depth in controlled stages while preserving the current safety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E7184"/>
                </a:solidFill>
                <a:latin typeface="Aptos"/>
              </a:rPr>
              <a:t>Pi-OT Security Probe | Programming and network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E7184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0469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73152" cy="71323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48132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56231"/>
            <a:ext cx="101498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Maintain the local website, improve views, collectors, reports, and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10469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73152" cy="71323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8716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62072"/>
            <a:ext cx="101498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Add stronger device identity reconciliation using MAC, IP, hostname, and explicit confidence.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37560"/>
            <a:ext cx="10469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337560"/>
            <a:ext cx="73152" cy="71323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49300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867912"/>
            <a:ext cx="101498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Implement protocol simulators and individually tested level-3 identity checks against a safe target.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43400"/>
            <a:ext cx="10469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43400"/>
            <a:ext cx="73152" cy="713232"/>
          </a:xfrm>
          <a:prstGeom prst="rect">
            <a:avLst/>
          </a:prstGeom>
          <a:solidFill>
            <a:srgbClr val="0B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498848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873752"/>
            <a:ext cx="1014984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184"/>
                </a:solidFill>
                <a:latin typeface="Aptos"/>
              </a:rPr>
              <a:t>Add PDF exports, data-only signed update packs with rollback, packet metadata capture, and remote management design.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The project’s strongest current value is trustworthy, bounded local evidence with a codebase that a developer can understand and change safely.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